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60" r:id="rId5"/>
    <p:sldId id="261" r:id="rId6"/>
    <p:sldId id="262" r:id="rId7"/>
    <p:sldId id="263" r:id="rId8"/>
    <p:sldId id="264" r:id="rId9"/>
    <p:sldId id="266" r:id="rId10"/>
    <p:sldId id="265" r:id="rId11"/>
    <p:sldId id="267" r:id="rId12"/>
    <p:sldId id="268" r:id="rId13"/>
    <p:sldId id="269" r:id="rId14"/>
    <p:sldId id="270"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6" autoAdjust="0"/>
    <p:restoredTop sz="94660"/>
  </p:normalViewPr>
  <p:slideViewPr>
    <p:cSldViewPr snapToGrid="0">
      <p:cViewPr varScale="1">
        <p:scale>
          <a:sx n="62" d="100"/>
          <a:sy n="62" d="100"/>
        </p:scale>
        <p:origin x="825" y="39"/>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41792F9-C458-4044-928E-209822ED0950}" type="datetimeFigureOut">
              <a:rPr lang="en-KE" smtClean="0"/>
              <a:t>16/12/2025</a:t>
            </a:fld>
            <a:endParaRPr lang="en-KE"/>
          </a:p>
        </p:txBody>
      </p:sp>
      <p:sp>
        <p:nvSpPr>
          <p:cNvPr id="5" name="Footer Placeholder 4"/>
          <p:cNvSpPr>
            <a:spLocks noGrp="1"/>
          </p:cNvSpPr>
          <p:nvPr>
            <p:ph type="ftr" sz="quarter" idx="11"/>
          </p:nvPr>
        </p:nvSpPr>
        <p:spPr/>
        <p:txBody>
          <a:bodyPr/>
          <a:lstStyle/>
          <a:p>
            <a:endParaRPr lang="en-KE"/>
          </a:p>
        </p:txBody>
      </p:sp>
      <p:sp>
        <p:nvSpPr>
          <p:cNvPr id="6" name="Slide Number Placeholder 5"/>
          <p:cNvSpPr>
            <a:spLocks noGrp="1"/>
          </p:cNvSpPr>
          <p:nvPr>
            <p:ph type="sldNum" sz="quarter" idx="12"/>
          </p:nvPr>
        </p:nvSpPr>
        <p:spPr/>
        <p:txBody>
          <a:bodyPr/>
          <a:lstStyle/>
          <a:p>
            <a:fld id="{B5E6F792-63D8-41B8-953E-453B32EBD5C9}" type="slidenum">
              <a:rPr lang="en-KE" smtClean="0"/>
              <a:t>‹#›</a:t>
            </a:fld>
            <a:endParaRPr lang="en-KE"/>
          </a:p>
        </p:txBody>
      </p:sp>
    </p:spTree>
    <p:extLst>
      <p:ext uri="{BB962C8B-B14F-4D97-AF65-F5344CB8AC3E}">
        <p14:creationId xmlns:p14="http://schemas.microsoft.com/office/powerpoint/2010/main" val="160505393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41792F9-C458-4044-928E-209822ED0950}" type="datetimeFigureOut">
              <a:rPr lang="en-KE" smtClean="0"/>
              <a:t>16/12/2025</a:t>
            </a:fld>
            <a:endParaRPr lang="en-KE"/>
          </a:p>
        </p:txBody>
      </p:sp>
      <p:sp>
        <p:nvSpPr>
          <p:cNvPr id="5" name="Footer Placeholder 4"/>
          <p:cNvSpPr>
            <a:spLocks noGrp="1"/>
          </p:cNvSpPr>
          <p:nvPr>
            <p:ph type="ftr" sz="quarter" idx="11"/>
          </p:nvPr>
        </p:nvSpPr>
        <p:spPr/>
        <p:txBody>
          <a:bodyPr/>
          <a:lstStyle/>
          <a:p>
            <a:endParaRPr lang="en-KE"/>
          </a:p>
        </p:txBody>
      </p:sp>
      <p:sp>
        <p:nvSpPr>
          <p:cNvPr id="6" name="Slide Number Placeholder 5"/>
          <p:cNvSpPr>
            <a:spLocks noGrp="1"/>
          </p:cNvSpPr>
          <p:nvPr>
            <p:ph type="sldNum" sz="quarter" idx="12"/>
          </p:nvPr>
        </p:nvSpPr>
        <p:spPr/>
        <p:txBody>
          <a:bodyPr/>
          <a:lstStyle/>
          <a:p>
            <a:fld id="{B5E6F792-63D8-41B8-953E-453B32EBD5C9}" type="slidenum">
              <a:rPr lang="en-KE" smtClean="0"/>
              <a:t>‹#›</a:t>
            </a:fld>
            <a:endParaRPr lang="en-KE"/>
          </a:p>
        </p:txBody>
      </p:sp>
    </p:spTree>
    <p:extLst>
      <p:ext uri="{BB962C8B-B14F-4D97-AF65-F5344CB8AC3E}">
        <p14:creationId xmlns:p14="http://schemas.microsoft.com/office/powerpoint/2010/main" val="311418228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41792F9-C458-4044-928E-209822ED0950}" type="datetimeFigureOut">
              <a:rPr lang="en-KE" smtClean="0"/>
              <a:t>16/12/2025</a:t>
            </a:fld>
            <a:endParaRPr lang="en-KE"/>
          </a:p>
        </p:txBody>
      </p:sp>
      <p:sp>
        <p:nvSpPr>
          <p:cNvPr id="5" name="Footer Placeholder 4"/>
          <p:cNvSpPr>
            <a:spLocks noGrp="1"/>
          </p:cNvSpPr>
          <p:nvPr>
            <p:ph type="ftr" sz="quarter" idx="11"/>
          </p:nvPr>
        </p:nvSpPr>
        <p:spPr/>
        <p:txBody>
          <a:bodyPr/>
          <a:lstStyle/>
          <a:p>
            <a:endParaRPr lang="en-KE"/>
          </a:p>
        </p:txBody>
      </p:sp>
      <p:sp>
        <p:nvSpPr>
          <p:cNvPr id="6" name="Slide Number Placeholder 5"/>
          <p:cNvSpPr>
            <a:spLocks noGrp="1"/>
          </p:cNvSpPr>
          <p:nvPr>
            <p:ph type="sldNum" sz="quarter" idx="12"/>
          </p:nvPr>
        </p:nvSpPr>
        <p:spPr/>
        <p:txBody>
          <a:bodyPr/>
          <a:lstStyle/>
          <a:p>
            <a:fld id="{B5E6F792-63D8-41B8-953E-453B32EBD5C9}" type="slidenum">
              <a:rPr lang="en-KE" smtClean="0"/>
              <a:t>‹#›</a:t>
            </a:fld>
            <a:endParaRPr lang="en-KE"/>
          </a:p>
        </p:txBody>
      </p:sp>
    </p:spTree>
    <p:extLst>
      <p:ext uri="{BB962C8B-B14F-4D97-AF65-F5344CB8AC3E}">
        <p14:creationId xmlns:p14="http://schemas.microsoft.com/office/powerpoint/2010/main" val="287658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41792F9-C458-4044-928E-209822ED0950}" type="datetimeFigureOut">
              <a:rPr lang="en-KE" smtClean="0"/>
              <a:t>16/12/2025</a:t>
            </a:fld>
            <a:endParaRPr lang="en-KE"/>
          </a:p>
        </p:txBody>
      </p:sp>
      <p:sp>
        <p:nvSpPr>
          <p:cNvPr id="6" name="Footer Placeholder 5"/>
          <p:cNvSpPr>
            <a:spLocks noGrp="1"/>
          </p:cNvSpPr>
          <p:nvPr>
            <p:ph type="ftr" sz="quarter" idx="11"/>
          </p:nvPr>
        </p:nvSpPr>
        <p:spPr/>
        <p:txBody>
          <a:bodyPr/>
          <a:lstStyle/>
          <a:p>
            <a:endParaRPr lang="en-KE"/>
          </a:p>
        </p:txBody>
      </p:sp>
      <p:sp>
        <p:nvSpPr>
          <p:cNvPr id="7" name="Slide Number Placeholder 6"/>
          <p:cNvSpPr>
            <a:spLocks noGrp="1"/>
          </p:cNvSpPr>
          <p:nvPr>
            <p:ph type="sldNum" sz="quarter" idx="12"/>
          </p:nvPr>
        </p:nvSpPr>
        <p:spPr/>
        <p:txBody>
          <a:bodyPr/>
          <a:lstStyle/>
          <a:p>
            <a:fld id="{B5E6F792-63D8-41B8-953E-453B32EBD5C9}" type="slidenum">
              <a:rPr lang="en-KE" smtClean="0"/>
              <a:t>‹#›</a:t>
            </a:fld>
            <a:endParaRPr lang="en-KE"/>
          </a:p>
        </p:txBody>
      </p:sp>
    </p:spTree>
    <p:extLst>
      <p:ext uri="{BB962C8B-B14F-4D97-AF65-F5344CB8AC3E}">
        <p14:creationId xmlns:p14="http://schemas.microsoft.com/office/powerpoint/2010/main" val="4431038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41792F9-C458-4044-928E-209822ED0950}" type="datetimeFigureOut">
              <a:rPr lang="en-KE" smtClean="0"/>
              <a:t>16/12/2025</a:t>
            </a:fld>
            <a:endParaRPr lang="en-KE"/>
          </a:p>
        </p:txBody>
      </p:sp>
      <p:sp>
        <p:nvSpPr>
          <p:cNvPr id="8" name="Footer Placeholder 7"/>
          <p:cNvSpPr>
            <a:spLocks noGrp="1"/>
          </p:cNvSpPr>
          <p:nvPr>
            <p:ph type="ftr" sz="quarter" idx="11"/>
          </p:nvPr>
        </p:nvSpPr>
        <p:spPr/>
        <p:txBody>
          <a:bodyPr/>
          <a:lstStyle/>
          <a:p>
            <a:endParaRPr lang="en-KE"/>
          </a:p>
        </p:txBody>
      </p:sp>
      <p:sp>
        <p:nvSpPr>
          <p:cNvPr id="9" name="Slide Number Placeholder 8"/>
          <p:cNvSpPr>
            <a:spLocks noGrp="1"/>
          </p:cNvSpPr>
          <p:nvPr>
            <p:ph type="sldNum" sz="quarter" idx="12"/>
          </p:nvPr>
        </p:nvSpPr>
        <p:spPr/>
        <p:txBody>
          <a:bodyPr/>
          <a:lstStyle/>
          <a:p>
            <a:fld id="{B5E6F792-63D8-41B8-953E-453B32EBD5C9}" type="slidenum">
              <a:rPr lang="en-KE" smtClean="0"/>
              <a:t>‹#›</a:t>
            </a:fld>
            <a:endParaRPr lang="en-KE"/>
          </a:p>
        </p:txBody>
      </p:sp>
    </p:spTree>
    <p:extLst>
      <p:ext uri="{BB962C8B-B14F-4D97-AF65-F5344CB8AC3E}">
        <p14:creationId xmlns:p14="http://schemas.microsoft.com/office/powerpoint/2010/main" val="33293529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41792F9-C458-4044-928E-209822ED0950}" type="datetimeFigureOut">
              <a:rPr lang="en-KE" smtClean="0"/>
              <a:t>16/12/2025</a:t>
            </a:fld>
            <a:endParaRPr lang="en-KE"/>
          </a:p>
        </p:txBody>
      </p:sp>
      <p:sp>
        <p:nvSpPr>
          <p:cNvPr id="4" name="Footer Placeholder 3"/>
          <p:cNvSpPr>
            <a:spLocks noGrp="1"/>
          </p:cNvSpPr>
          <p:nvPr>
            <p:ph type="ftr" sz="quarter" idx="11"/>
          </p:nvPr>
        </p:nvSpPr>
        <p:spPr/>
        <p:txBody>
          <a:bodyPr/>
          <a:lstStyle/>
          <a:p>
            <a:endParaRPr lang="en-KE"/>
          </a:p>
        </p:txBody>
      </p:sp>
      <p:sp>
        <p:nvSpPr>
          <p:cNvPr id="5" name="Slide Number Placeholder 4"/>
          <p:cNvSpPr>
            <a:spLocks noGrp="1"/>
          </p:cNvSpPr>
          <p:nvPr>
            <p:ph type="sldNum" sz="quarter" idx="12"/>
          </p:nvPr>
        </p:nvSpPr>
        <p:spPr/>
        <p:txBody>
          <a:bodyPr/>
          <a:lstStyle/>
          <a:p>
            <a:fld id="{B5E6F792-63D8-41B8-953E-453B32EBD5C9}" type="slidenum">
              <a:rPr lang="en-KE" smtClean="0"/>
              <a:t>‹#›</a:t>
            </a:fld>
            <a:endParaRPr lang="en-KE"/>
          </a:p>
        </p:txBody>
      </p:sp>
    </p:spTree>
    <p:extLst>
      <p:ext uri="{BB962C8B-B14F-4D97-AF65-F5344CB8AC3E}">
        <p14:creationId xmlns:p14="http://schemas.microsoft.com/office/powerpoint/2010/main" val="2824698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41792F9-C458-4044-928E-209822ED0950}" type="datetimeFigureOut">
              <a:rPr lang="en-KE" smtClean="0"/>
              <a:t>16/12/2025</a:t>
            </a:fld>
            <a:endParaRPr lang="en-KE"/>
          </a:p>
        </p:txBody>
      </p:sp>
      <p:sp>
        <p:nvSpPr>
          <p:cNvPr id="3" name="Footer Placeholder 2"/>
          <p:cNvSpPr>
            <a:spLocks noGrp="1"/>
          </p:cNvSpPr>
          <p:nvPr>
            <p:ph type="ftr" sz="quarter" idx="11"/>
          </p:nvPr>
        </p:nvSpPr>
        <p:spPr/>
        <p:txBody>
          <a:bodyPr/>
          <a:lstStyle/>
          <a:p>
            <a:endParaRPr lang="en-KE"/>
          </a:p>
        </p:txBody>
      </p:sp>
      <p:sp>
        <p:nvSpPr>
          <p:cNvPr id="4" name="Slide Number Placeholder 3"/>
          <p:cNvSpPr>
            <a:spLocks noGrp="1"/>
          </p:cNvSpPr>
          <p:nvPr>
            <p:ph type="sldNum" sz="quarter" idx="12"/>
          </p:nvPr>
        </p:nvSpPr>
        <p:spPr/>
        <p:txBody>
          <a:bodyPr/>
          <a:lstStyle/>
          <a:p>
            <a:fld id="{B5E6F792-63D8-41B8-953E-453B32EBD5C9}" type="slidenum">
              <a:rPr lang="en-KE" smtClean="0"/>
              <a:t>‹#›</a:t>
            </a:fld>
            <a:endParaRPr lang="en-KE"/>
          </a:p>
        </p:txBody>
      </p:sp>
    </p:spTree>
    <p:extLst>
      <p:ext uri="{BB962C8B-B14F-4D97-AF65-F5344CB8AC3E}">
        <p14:creationId xmlns:p14="http://schemas.microsoft.com/office/powerpoint/2010/main" val="29684530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41792F9-C458-4044-928E-209822ED0950}" type="datetimeFigureOut">
              <a:rPr lang="en-KE" smtClean="0"/>
              <a:t>16/12/2025</a:t>
            </a:fld>
            <a:endParaRPr lang="en-KE"/>
          </a:p>
        </p:txBody>
      </p:sp>
      <p:sp>
        <p:nvSpPr>
          <p:cNvPr id="6" name="Footer Placeholder 5"/>
          <p:cNvSpPr>
            <a:spLocks noGrp="1"/>
          </p:cNvSpPr>
          <p:nvPr>
            <p:ph type="ftr" sz="quarter" idx="11"/>
          </p:nvPr>
        </p:nvSpPr>
        <p:spPr/>
        <p:txBody>
          <a:bodyPr/>
          <a:lstStyle/>
          <a:p>
            <a:endParaRPr lang="en-KE"/>
          </a:p>
        </p:txBody>
      </p:sp>
      <p:sp>
        <p:nvSpPr>
          <p:cNvPr id="7" name="Slide Number Placeholder 6"/>
          <p:cNvSpPr>
            <a:spLocks noGrp="1"/>
          </p:cNvSpPr>
          <p:nvPr>
            <p:ph type="sldNum" sz="quarter" idx="12"/>
          </p:nvPr>
        </p:nvSpPr>
        <p:spPr/>
        <p:txBody>
          <a:bodyPr/>
          <a:lstStyle/>
          <a:p>
            <a:fld id="{B5E6F792-63D8-41B8-953E-453B32EBD5C9}" type="slidenum">
              <a:rPr lang="en-KE" smtClean="0"/>
              <a:t>‹#›</a:t>
            </a:fld>
            <a:endParaRPr lang="en-KE"/>
          </a:p>
        </p:txBody>
      </p:sp>
    </p:spTree>
    <p:extLst>
      <p:ext uri="{BB962C8B-B14F-4D97-AF65-F5344CB8AC3E}">
        <p14:creationId xmlns:p14="http://schemas.microsoft.com/office/powerpoint/2010/main" val="23790256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41792F9-C458-4044-928E-209822ED0950}" type="datetimeFigureOut">
              <a:rPr lang="en-KE" smtClean="0"/>
              <a:t>16/12/2025</a:t>
            </a:fld>
            <a:endParaRPr lang="en-KE"/>
          </a:p>
        </p:txBody>
      </p:sp>
      <p:sp>
        <p:nvSpPr>
          <p:cNvPr id="6" name="Footer Placeholder 5"/>
          <p:cNvSpPr>
            <a:spLocks noGrp="1"/>
          </p:cNvSpPr>
          <p:nvPr>
            <p:ph type="ftr" sz="quarter" idx="11"/>
          </p:nvPr>
        </p:nvSpPr>
        <p:spPr/>
        <p:txBody>
          <a:bodyPr/>
          <a:lstStyle/>
          <a:p>
            <a:endParaRPr lang="en-KE"/>
          </a:p>
        </p:txBody>
      </p:sp>
      <p:sp>
        <p:nvSpPr>
          <p:cNvPr id="7" name="Slide Number Placeholder 6"/>
          <p:cNvSpPr>
            <a:spLocks noGrp="1"/>
          </p:cNvSpPr>
          <p:nvPr>
            <p:ph type="sldNum" sz="quarter" idx="12"/>
          </p:nvPr>
        </p:nvSpPr>
        <p:spPr/>
        <p:txBody>
          <a:bodyPr/>
          <a:lstStyle/>
          <a:p>
            <a:fld id="{B5E6F792-63D8-41B8-953E-453B32EBD5C9}" type="slidenum">
              <a:rPr lang="en-KE" smtClean="0"/>
              <a:t>‹#›</a:t>
            </a:fld>
            <a:endParaRPr lang="en-KE"/>
          </a:p>
        </p:txBody>
      </p:sp>
    </p:spTree>
    <p:extLst>
      <p:ext uri="{BB962C8B-B14F-4D97-AF65-F5344CB8AC3E}">
        <p14:creationId xmlns:p14="http://schemas.microsoft.com/office/powerpoint/2010/main" val="27766004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41792F9-C458-4044-928E-209822ED0950}" type="datetimeFigureOut">
              <a:rPr lang="en-KE" smtClean="0"/>
              <a:t>16/12/2025</a:t>
            </a:fld>
            <a:endParaRPr lang="en-KE"/>
          </a:p>
        </p:txBody>
      </p:sp>
      <p:sp>
        <p:nvSpPr>
          <p:cNvPr id="5" name="Footer Placeholder 4"/>
          <p:cNvSpPr>
            <a:spLocks noGrp="1"/>
          </p:cNvSpPr>
          <p:nvPr>
            <p:ph type="ftr" sz="quarter" idx="11"/>
          </p:nvPr>
        </p:nvSpPr>
        <p:spPr/>
        <p:txBody>
          <a:bodyPr/>
          <a:lstStyle/>
          <a:p>
            <a:endParaRPr lang="en-KE"/>
          </a:p>
        </p:txBody>
      </p:sp>
      <p:sp>
        <p:nvSpPr>
          <p:cNvPr id="6" name="Slide Number Placeholder 5"/>
          <p:cNvSpPr>
            <a:spLocks noGrp="1"/>
          </p:cNvSpPr>
          <p:nvPr>
            <p:ph type="sldNum" sz="quarter" idx="12"/>
          </p:nvPr>
        </p:nvSpPr>
        <p:spPr/>
        <p:txBody>
          <a:bodyPr/>
          <a:lstStyle/>
          <a:p>
            <a:fld id="{B5E6F792-63D8-41B8-953E-453B32EBD5C9}" type="slidenum">
              <a:rPr lang="en-KE" smtClean="0"/>
              <a:t>‹#›</a:t>
            </a:fld>
            <a:endParaRPr lang="en-KE"/>
          </a:p>
        </p:txBody>
      </p:sp>
    </p:spTree>
    <p:extLst>
      <p:ext uri="{BB962C8B-B14F-4D97-AF65-F5344CB8AC3E}">
        <p14:creationId xmlns:p14="http://schemas.microsoft.com/office/powerpoint/2010/main" val="27116828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41792F9-C458-4044-928E-209822ED0950}" type="datetimeFigureOut">
              <a:rPr lang="en-KE" smtClean="0"/>
              <a:t>16/12/2025</a:t>
            </a:fld>
            <a:endParaRPr lang="en-KE"/>
          </a:p>
        </p:txBody>
      </p:sp>
      <p:sp>
        <p:nvSpPr>
          <p:cNvPr id="5" name="Footer Placeholder 4"/>
          <p:cNvSpPr>
            <a:spLocks noGrp="1"/>
          </p:cNvSpPr>
          <p:nvPr>
            <p:ph type="ftr" sz="quarter" idx="11"/>
          </p:nvPr>
        </p:nvSpPr>
        <p:spPr/>
        <p:txBody>
          <a:bodyPr/>
          <a:lstStyle/>
          <a:p>
            <a:endParaRPr lang="en-KE"/>
          </a:p>
        </p:txBody>
      </p:sp>
      <p:sp>
        <p:nvSpPr>
          <p:cNvPr id="6" name="Slide Number Placeholder 5"/>
          <p:cNvSpPr>
            <a:spLocks noGrp="1"/>
          </p:cNvSpPr>
          <p:nvPr>
            <p:ph type="sldNum" sz="quarter" idx="12"/>
          </p:nvPr>
        </p:nvSpPr>
        <p:spPr/>
        <p:txBody>
          <a:bodyPr/>
          <a:lstStyle/>
          <a:p>
            <a:fld id="{B5E6F792-63D8-41B8-953E-453B32EBD5C9}" type="slidenum">
              <a:rPr lang="en-KE" smtClean="0"/>
              <a:t>‹#›</a:t>
            </a:fld>
            <a:endParaRPr lang="en-KE"/>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21840520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41792F9-C458-4044-928E-209822ED0950}" type="datetimeFigureOut">
              <a:rPr lang="en-KE" smtClean="0"/>
              <a:t>16/12/2025</a:t>
            </a:fld>
            <a:endParaRPr lang="en-KE"/>
          </a:p>
        </p:txBody>
      </p:sp>
      <p:sp>
        <p:nvSpPr>
          <p:cNvPr id="5" name="Footer Placeholder 4"/>
          <p:cNvSpPr>
            <a:spLocks noGrp="1"/>
          </p:cNvSpPr>
          <p:nvPr>
            <p:ph type="ftr" sz="quarter" idx="11"/>
          </p:nvPr>
        </p:nvSpPr>
        <p:spPr/>
        <p:txBody>
          <a:bodyPr/>
          <a:lstStyle/>
          <a:p>
            <a:endParaRPr lang="en-KE"/>
          </a:p>
        </p:txBody>
      </p:sp>
      <p:sp>
        <p:nvSpPr>
          <p:cNvPr id="6" name="Slide Number Placeholder 5"/>
          <p:cNvSpPr>
            <a:spLocks noGrp="1"/>
          </p:cNvSpPr>
          <p:nvPr>
            <p:ph type="sldNum" sz="quarter" idx="12"/>
          </p:nvPr>
        </p:nvSpPr>
        <p:spPr/>
        <p:txBody>
          <a:bodyPr/>
          <a:lstStyle/>
          <a:p>
            <a:fld id="{B5E6F792-63D8-41B8-953E-453B32EBD5C9}" type="slidenum">
              <a:rPr lang="en-KE" smtClean="0"/>
              <a:t>‹#›</a:t>
            </a:fld>
            <a:endParaRPr lang="en-KE"/>
          </a:p>
        </p:txBody>
      </p:sp>
    </p:spTree>
    <p:extLst>
      <p:ext uri="{BB962C8B-B14F-4D97-AF65-F5344CB8AC3E}">
        <p14:creationId xmlns:p14="http://schemas.microsoft.com/office/powerpoint/2010/main" val="122581518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41792F9-C458-4044-928E-209822ED0950}" type="datetimeFigureOut">
              <a:rPr lang="en-KE" smtClean="0"/>
              <a:t>16/12/2025</a:t>
            </a:fld>
            <a:endParaRPr lang="en-KE"/>
          </a:p>
        </p:txBody>
      </p:sp>
      <p:sp>
        <p:nvSpPr>
          <p:cNvPr id="5" name="Footer Placeholder 4"/>
          <p:cNvSpPr>
            <a:spLocks noGrp="1"/>
          </p:cNvSpPr>
          <p:nvPr>
            <p:ph type="ftr" sz="quarter" idx="11"/>
          </p:nvPr>
        </p:nvSpPr>
        <p:spPr/>
        <p:txBody>
          <a:bodyPr/>
          <a:lstStyle/>
          <a:p>
            <a:endParaRPr lang="en-KE"/>
          </a:p>
        </p:txBody>
      </p:sp>
      <p:sp>
        <p:nvSpPr>
          <p:cNvPr id="6" name="Slide Number Placeholder 5"/>
          <p:cNvSpPr>
            <a:spLocks noGrp="1"/>
          </p:cNvSpPr>
          <p:nvPr>
            <p:ph type="sldNum" sz="quarter" idx="12"/>
          </p:nvPr>
        </p:nvSpPr>
        <p:spPr/>
        <p:txBody>
          <a:bodyPr/>
          <a:lstStyle/>
          <a:p>
            <a:fld id="{B5E6F792-63D8-41B8-953E-453B32EBD5C9}" type="slidenum">
              <a:rPr lang="en-KE" smtClean="0"/>
              <a:t>‹#›</a:t>
            </a:fld>
            <a:endParaRPr lang="en-KE"/>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77790702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41792F9-C458-4044-928E-209822ED0950}" type="datetimeFigureOut">
              <a:rPr lang="en-KE" smtClean="0"/>
              <a:t>16/12/2025</a:t>
            </a:fld>
            <a:endParaRPr lang="en-KE"/>
          </a:p>
        </p:txBody>
      </p:sp>
      <p:sp>
        <p:nvSpPr>
          <p:cNvPr id="5" name="Footer Placeholder 4"/>
          <p:cNvSpPr>
            <a:spLocks noGrp="1"/>
          </p:cNvSpPr>
          <p:nvPr>
            <p:ph type="ftr" sz="quarter" idx="11"/>
          </p:nvPr>
        </p:nvSpPr>
        <p:spPr/>
        <p:txBody>
          <a:bodyPr/>
          <a:lstStyle/>
          <a:p>
            <a:endParaRPr lang="en-KE"/>
          </a:p>
        </p:txBody>
      </p:sp>
      <p:sp>
        <p:nvSpPr>
          <p:cNvPr id="6" name="Slide Number Placeholder 5"/>
          <p:cNvSpPr>
            <a:spLocks noGrp="1"/>
          </p:cNvSpPr>
          <p:nvPr>
            <p:ph type="sldNum" sz="quarter" idx="12"/>
          </p:nvPr>
        </p:nvSpPr>
        <p:spPr/>
        <p:txBody>
          <a:bodyPr/>
          <a:lstStyle/>
          <a:p>
            <a:fld id="{B5E6F792-63D8-41B8-953E-453B32EBD5C9}" type="slidenum">
              <a:rPr lang="en-KE" smtClean="0"/>
              <a:t>‹#›</a:t>
            </a:fld>
            <a:endParaRPr lang="en-KE"/>
          </a:p>
        </p:txBody>
      </p:sp>
    </p:spTree>
    <p:extLst>
      <p:ext uri="{BB962C8B-B14F-4D97-AF65-F5344CB8AC3E}">
        <p14:creationId xmlns:p14="http://schemas.microsoft.com/office/powerpoint/2010/main" val="62192947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41792F9-C458-4044-928E-209822ED0950}" type="datetimeFigureOut">
              <a:rPr lang="en-KE" smtClean="0"/>
              <a:t>16/12/2025</a:t>
            </a:fld>
            <a:endParaRPr lang="en-KE"/>
          </a:p>
        </p:txBody>
      </p:sp>
      <p:sp>
        <p:nvSpPr>
          <p:cNvPr id="5" name="Footer Placeholder 4"/>
          <p:cNvSpPr>
            <a:spLocks noGrp="1"/>
          </p:cNvSpPr>
          <p:nvPr>
            <p:ph type="ftr" sz="quarter" idx="11"/>
          </p:nvPr>
        </p:nvSpPr>
        <p:spPr/>
        <p:txBody>
          <a:bodyPr/>
          <a:lstStyle/>
          <a:p>
            <a:endParaRPr lang="en-KE"/>
          </a:p>
        </p:txBody>
      </p:sp>
      <p:sp>
        <p:nvSpPr>
          <p:cNvPr id="6" name="Slide Number Placeholder 5"/>
          <p:cNvSpPr>
            <a:spLocks noGrp="1"/>
          </p:cNvSpPr>
          <p:nvPr>
            <p:ph type="sldNum" sz="quarter" idx="12"/>
          </p:nvPr>
        </p:nvSpPr>
        <p:spPr/>
        <p:txBody>
          <a:bodyPr/>
          <a:lstStyle/>
          <a:p>
            <a:fld id="{B5E6F792-63D8-41B8-953E-453B32EBD5C9}" type="slidenum">
              <a:rPr lang="en-KE" smtClean="0"/>
              <a:t>‹#›</a:t>
            </a:fld>
            <a:endParaRPr lang="en-KE"/>
          </a:p>
        </p:txBody>
      </p:sp>
    </p:spTree>
    <p:extLst>
      <p:ext uri="{BB962C8B-B14F-4D97-AF65-F5344CB8AC3E}">
        <p14:creationId xmlns:p14="http://schemas.microsoft.com/office/powerpoint/2010/main" val="381615147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41792F9-C458-4044-928E-209822ED0950}" type="datetimeFigureOut">
              <a:rPr lang="en-KE" smtClean="0"/>
              <a:t>16/12/2025</a:t>
            </a:fld>
            <a:endParaRPr lang="en-KE"/>
          </a:p>
        </p:txBody>
      </p:sp>
      <p:sp>
        <p:nvSpPr>
          <p:cNvPr id="5" name="Footer Placeholder 4"/>
          <p:cNvSpPr>
            <a:spLocks noGrp="1"/>
          </p:cNvSpPr>
          <p:nvPr>
            <p:ph type="ftr" sz="quarter" idx="11"/>
          </p:nvPr>
        </p:nvSpPr>
        <p:spPr/>
        <p:txBody>
          <a:bodyPr/>
          <a:lstStyle/>
          <a:p>
            <a:endParaRPr lang="en-KE"/>
          </a:p>
        </p:txBody>
      </p:sp>
      <p:sp>
        <p:nvSpPr>
          <p:cNvPr id="6" name="Slide Number Placeholder 5"/>
          <p:cNvSpPr>
            <a:spLocks noGrp="1"/>
          </p:cNvSpPr>
          <p:nvPr>
            <p:ph type="sldNum" sz="quarter" idx="12"/>
          </p:nvPr>
        </p:nvSpPr>
        <p:spPr/>
        <p:txBody>
          <a:bodyPr/>
          <a:lstStyle/>
          <a:p>
            <a:fld id="{B5E6F792-63D8-41B8-953E-453B32EBD5C9}" type="slidenum">
              <a:rPr lang="en-KE" smtClean="0"/>
              <a:t>‹#›</a:t>
            </a:fld>
            <a:endParaRPr lang="en-KE"/>
          </a:p>
        </p:txBody>
      </p:sp>
    </p:spTree>
    <p:extLst>
      <p:ext uri="{BB962C8B-B14F-4D97-AF65-F5344CB8AC3E}">
        <p14:creationId xmlns:p14="http://schemas.microsoft.com/office/powerpoint/2010/main" val="34364502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441792F9-C458-4044-928E-209822ED0950}" type="datetimeFigureOut">
              <a:rPr lang="en-KE" smtClean="0"/>
              <a:t>16/12/2025</a:t>
            </a:fld>
            <a:endParaRPr lang="en-KE"/>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KE"/>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B5E6F792-63D8-41B8-953E-453B32EBD5C9}" type="slidenum">
              <a:rPr lang="en-KE" smtClean="0"/>
              <a:t>‹#›</a:t>
            </a:fld>
            <a:endParaRPr lang="en-KE"/>
          </a:p>
        </p:txBody>
      </p:sp>
    </p:spTree>
    <p:extLst>
      <p:ext uri="{BB962C8B-B14F-4D97-AF65-F5344CB8AC3E}">
        <p14:creationId xmlns:p14="http://schemas.microsoft.com/office/powerpoint/2010/main" val="387773684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E57FA1-E792-5BFD-6449-DD7DC2494B16}"/>
              </a:ext>
            </a:extLst>
          </p:cNvPr>
          <p:cNvSpPr>
            <a:spLocks noGrp="1"/>
          </p:cNvSpPr>
          <p:nvPr>
            <p:ph type="ctrTitle"/>
          </p:nvPr>
        </p:nvSpPr>
        <p:spPr/>
        <p:txBody>
          <a:bodyPr/>
          <a:lstStyle/>
          <a:p>
            <a:r>
              <a:rPr lang="en-US" dirty="0"/>
              <a:t>AVIATION RISK ANALYSIS</a:t>
            </a:r>
            <a:endParaRPr lang="en-KE" dirty="0"/>
          </a:p>
        </p:txBody>
      </p:sp>
      <p:sp>
        <p:nvSpPr>
          <p:cNvPr id="3" name="Subtitle 2">
            <a:extLst>
              <a:ext uri="{FF2B5EF4-FFF2-40B4-BE49-F238E27FC236}">
                <a16:creationId xmlns:a16="http://schemas.microsoft.com/office/drawing/2014/main" id="{69C62B63-6C38-ACBF-34E4-4FBBF418F816}"/>
              </a:ext>
            </a:extLst>
          </p:cNvPr>
          <p:cNvSpPr>
            <a:spLocks noGrp="1"/>
          </p:cNvSpPr>
          <p:nvPr>
            <p:ph type="subTitle" idx="1"/>
          </p:nvPr>
        </p:nvSpPr>
        <p:spPr/>
        <p:txBody>
          <a:bodyPr/>
          <a:lstStyle/>
          <a:p>
            <a:endParaRPr lang="en-KE" dirty="0"/>
          </a:p>
        </p:txBody>
      </p:sp>
    </p:spTree>
    <p:extLst>
      <p:ext uri="{BB962C8B-B14F-4D97-AF65-F5344CB8AC3E}">
        <p14:creationId xmlns:p14="http://schemas.microsoft.com/office/powerpoint/2010/main" val="336608865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DFFE95-8EAF-D69A-DDF8-1F3BB5709AF9}"/>
              </a:ext>
            </a:extLst>
          </p:cNvPr>
          <p:cNvSpPr>
            <a:spLocks noGrp="1"/>
          </p:cNvSpPr>
          <p:nvPr>
            <p:ph type="title"/>
          </p:nvPr>
        </p:nvSpPr>
        <p:spPr/>
        <p:txBody>
          <a:bodyPr/>
          <a:lstStyle/>
          <a:p>
            <a:r>
              <a:rPr lang="en-US" dirty="0"/>
              <a:t>OVERVIEW</a:t>
            </a:r>
            <a:endParaRPr lang="en-KE" dirty="0"/>
          </a:p>
        </p:txBody>
      </p:sp>
      <p:sp>
        <p:nvSpPr>
          <p:cNvPr id="3" name="Content Placeholder 2">
            <a:extLst>
              <a:ext uri="{FF2B5EF4-FFF2-40B4-BE49-F238E27FC236}">
                <a16:creationId xmlns:a16="http://schemas.microsoft.com/office/drawing/2014/main" id="{90889C98-5F5C-46C0-D6F0-ABA8D9E68CA7}"/>
              </a:ext>
            </a:extLst>
          </p:cNvPr>
          <p:cNvSpPr>
            <a:spLocks noGrp="1"/>
          </p:cNvSpPr>
          <p:nvPr>
            <p:ph idx="1"/>
          </p:nvPr>
        </p:nvSpPr>
        <p:spPr/>
        <p:txBody>
          <a:bodyPr/>
          <a:lstStyle/>
          <a:p>
            <a:pPr marL="0" indent="0">
              <a:buNone/>
            </a:pPr>
            <a:r>
              <a:rPr lang="en-US" dirty="0"/>
              <a:t>Aviation is a common mode of transport yet accidents though rare carry reputational accidents. This projects analyzes historical aviation accident data to:</a:t>
            </a:r>
          </a:p>
          <a:p>
            <a:pPr>
              <a:buFont typeface="Wingdings" panose="05000000000000000000" pitchFamily="2" charset="2"/>
              <a:buChar char="§"/>
            </a:pPr>
            <a:r>
              <a:rPr lang="en-US" dirty="0"/>
              <a:t>Uncover patterns over time</a:t>
            </a:r>
          </a:p>
          <a:p>
            <a:pPr>
              <a:buFont typeface="Wingdings" panose="05000000000000000000" pitchFamily="2" charset="2"/>
              <a:buChar char="§"/>
            </a:pPr>
            <a:r>
              <a:rPr lang="en-US" dirty="0"/>
              <a:t>Identify low risk aircrafts</a:t>
            </a:r>
          </a:p>
          <a:p>
            <a:pPr>
              <a:buFont typeface="Wingdings" panose="05000000000000000000" pitchFamily="2" charset="2"/>
              <a:buChar char="§"/>
            </a:pPr>
            <a:r>
              <a:rPr lang="en-US" dirty="0"/>
              <a:t>Identify factors influencing the accidents</a:t>
            </a:r>
            <a:endParaRPr lang="en-KE" dirty="0"/>
          </a:p>
        </p:txBody>
      </p:sp>
    </p:spTree>
    <p:extLst>
      <p:ext uri="{BB962C8B-B14F-4D97-AF65-F5344CB8AC3E}">
        <p14:creationId xmlns:p14="http://schemas.microsoft.com/office/powerpoint/2010/main" val="67230196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691D79-2B19-A02B-6126-5BAF4B4CE848}"/>
              </a:ext>
            </a:extLst>
          </p:cNvPr>
          <p:cNvSpPr>
            <a:spLocks noGrp="1"/>
          </p:cNvSpPr>
          <p:nvPr>
            <p:ph type="title"/>
          </p:nvPr>
        </p:nvSpPr>
        <p:spPr/>
        <p:txBody>
          <a:bodyPr/>
          <a:lstStyle/>
          <a:p>
            <a:r>
              <a:rPr lang="en-US" dirty="0"/>
              <a:t>OUTLINE</a:t>
            </a:r>
            <a:endParaRPr lang="en-KE" dirty="0"/>
          </a:p>
        </p:txBody>
      </p:sp>
      <p:sp>
        <p:nvSpPr>
          <p:cNvPr id="3" name="Content Placeholder 2">
            <a:extLst>
              <a:ext uri="{FF2B5EF4-FFF2-40B4-BE49-F238E27FC236}">
                <a16:creationId xmlns:a16="http://schemas.microsoft.com/office/drawing/2014/main" id="{A8CC526F-32CE-CF89-8C0C-F539F551D9E8}"/>
              </a:ext>
            </a:extLst>
          </p:cNvPr>
          <p:cNvSpPr>
            <a:spLocks noGrp="1"/>
          </p:cNvSpPr>
          <p:nvPr>
            <p:ph idx="1"/>
          </p:nvPr>
        </p:nvSpPr>
        <p:spPr/>
        <p:txBody>
          <a:bodyPr/>
          <a:lstStyle/>
          <a:p>
            <a:pPr>
              <a:buFont typeface="Wingdings" panose="05000000000000000000" pitchFamily="2" charset="2"/>
              <a:buChar char="v"/>
            </a:pPr>
            <a:r>
              <a:rPr lang="en-US" dirty="0"/>
              <a:t>Business understanding</a:t>
            </a:r>
          </a:p>
          <a:p>
            <a:pPr>
              <a:buFont typeface="Wingdings" panose="05000000000000000000" pitchFamily="2" charset="2"/>
              <a:buChar char="v"/>
            </a:pPr>
            <a:r>
              <a:rPr lang="en-US" dirty="0"/>
              <a:t>Data understanding</a:t>
            </a:r>
          </a:p>
          <a:p>
            <a:pPr>
              <a:buFont typeface="Wingdings" panose="05000000000000000000" pitchFamily="2" charset="2"/>
              <a:buChar char="v"/>
            </a:pPr>
            <a:r>
              <a:rPr lang="en-US" dirty="0"/>
              <a:t>Data preparation and analysis</a:t>
            </a:r>
          </a:p>
          <a:p>
            <a:pPr>
              <a:buFont typeface="Wingdings" panose="05000000000000000000" pitchFamily="2" charset="2"/>
              <a:buChar char="v"/>
            </a:pPr>
            <a:r>
              <a:rPr lang="en-US" dirty="0"/>
              <a:t>Conclusion</a:t>
            </a:r>
          </a:p>
          <a:p>
            <a:pPr>
              <a:buFont typeface="Wingdings" panose="05000000000000000000" pitchFamily="2" charset="2"/>
              <a:buChar char="v"/>
            </a:pPr>
            <a:r>
              <a:rPr lang="en-US" dirty="0" err="1"/>
              <a:t>Reccomendatios</a:t>
            </a:r>
            <a:endParaRPr lang="en-KE" dirty="0"/>
          </a:p>
        </p:txBody>
      </p:sp>
    </p:spTree>
    <p:extLst>
      <p:ext uri="{BB962C8B-B14F-4D97-AF65-F5344CB8AC3E}">
        <p14:creationId xmlns:p14="http://schemas.microsoft.com/office/powerpoint/2010/main" val="29223705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72AA58-5191-5736-88CF-B2506FE80417}"/>
              </a:ext>
            </a:extLst>
          </p:cNvPr>
          <p:cNvSpPr>
            <a:spLocks noGrp="1"/>
          </p:cNvSpPr>
          <p:nvPr>
            <p:ph type="title"/>
          </p:nvPr>
        </p:nvSpPr>
        <p:spPr/>
        <p:txBody>
          <a:bodyPr/>
          <a:lstStyle/>
          <a:p>
            <a:r>
              <a:rPr lang="en-US" dirty="0"/>
              <a:t>BUSINESS UNDERSTANDING</a:t>
            </a:r>
            <a:endParaRPr lang="en-KE" dirty="0"/>
          </a:p>
        </p:txBody>
      </p:sp>
      <p:sp>
        <p:nvSpPr>
          <p:cNvPr id="3" name="Content Placeholder 2">
            <a:extLst>
              <a:ext uri="{FF2B5EF4-FFF2-40B4-BE49-F238E27FC236}">
                <a16:creationId xmlns:a16="http://schemas.microsoft.com/office/drawing/2014/main" id="{FBA64ED1-EB6C-4D53-F0E5-0E4BFCA73D1C}"/>
              </a:ext>
            </a:extLst>
          </p:cNvPr>
          <p:cNvSpPr>
            <a:spLocks noGrp="1"/>
          </p:cNvSpPr>
          <p:nvPr>
            <p:ph idx="1"/>
          </p:nvPr>
        </p:nvSpPr>
        <p:spPr>
          <a:xfrm>
            <a:off x="677334" y="2202152"/>
            <a:ext cx="8596668" cy="3880773"/>
          </a:xfrm>
        </p:spPr>
        <p:txBody>
          <a:bodyPr/>
          <a:lstStyle/>
          <a:p>
            <a:pPr marL="0" indent="0">
              <a:buNone/>
            </a:pPr>
            <a:r>
              <a:rPr lang="en-US" dirty="0"/>
              <a:t>Our company seeks to venture into the aviation industry, they are interested in purchasing and operating airplanes for commercial and private enterprises. Multiple companies in this industry make a decision based on cost, performance, or availability. However, without looking closely at safety records, there is a risk of selecting aircraft with poor accident histories. This can lead to higher risks, unexpected costs, and safety challenges in the long run. The problem we aim to solve is how to use accident data to analyze and compare safety levels across aircraft models, to make well informed decisions balancing both performance and risk.</a:t>
            </a:r>
            <a:endParaRPr lang="en-KE" dirty="0"/>
          </a:p>
        </p:txBody>
      </p:sp>
    </p:spTree>
    <p:extLst>
      <p:ext uri="{BB962C8B-B14F-4D97-AF65-F5344CB8AC3E}">
        <p14:creationId xmlns:p14="http://schemas.microsoft.com/office/powerpoint/2010/main" val="28177192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15C217-82CC-861F-867A-E2DC9792B096}"/>
              </a:ext>
            </a:extLst>
          </p:cNvPr>
          <p:cNvSpPr>
            <a:spLocks noGrp="1"/>
          </p:cNvSpPr>
          <p:nvPr>
            <p:ph type="title"/>
          </p:nvPr>
        </p:nvSpPr>
        <p:spPr/>
        <p:txBody>
          <a:bodyPr/>
          <a:lstStyle/>
          <a:p>
            <a:r>
              <a:rPr lang="en-US" dirty="0"/>
              <a:t>Objectives</a:t>
            </a:r>
            <a:endParaRPr lang="en-KE" dirty="0"/>
          </a:p>
        </p:txBody>
      </p:sp>
      <p:sp>
        <p:nvSpPr>
          <p:cNvPr id="3" name="Content Placeholder 2">
            <a:extLst>
              <a:ext uri="{FF2B5EF4-FFF2-40B4-BE49-F238E27FC236}">
                <a16:creationId xmlns:a16="http://schemas.microsoft.com/office/drawing/2014/main" id="{9A67A7C9-8F00-6AD0-E523-DA2E1BF9E478}"/>
              </a:ext>
            </a:extLst>
          </p:cNvPr>
          <p:cNvSpPr>
            <a:spLocks noGrp="1"/>
          </p:cNvSpPr>
          <p:nvPr>
            <p:ph idx="1"/>
          </p:nvPr>
        </p:nvSpPr>
        <p:spPr/>
        <p:txBody>
          <a:bodyPr/>
          <a:lstStyle/>
          <a:p>
            <a:r>
              <a:rPr lang="en-US" dirty="0"/>
              <a:t>To explore and understand the aviation accident dataset.</a:t>
            </a:r>
          </a:p>
          <a:p>
            <a:r>
              <a:rPr lang="en-US" dirty="0"/>
              <a:t>To clean and prepare the data for analysis by addressing missing and inconsistent values.</a:t>
            </a:r>
          </a:p>
          <a:p>
            <a:r>
              <a:rPr lang="en-US" dirty="0"/>
              <a:t>Determine which aircraft has the lowest operational risk</a:t>
            </a:r>
          </a:p>
          <a:p>
            <a:pPr marL="0" indent="0">
              <a:buNone/>
            </a:pPr>
            <a:endParaRPr lang="en-KE" dirty="0"/>
          </a:p>
        </p:txBody>
      </p:sp>
    </p:spTree>
    <p:extLst>
      <p:ext uri="{BB962C8B-B14F-4D97-AF65-F5344CB8AC3E}">
        <p14:creationId xmlns:p14="http://schemas.microsoft.com/office/powerpoint/2010/main" val="239753766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CA868A-390A-D43D-3304-CCFE1DBB40C6}"/>
              </a:ext>
            </a:extLst>
          </p:cNvPr>
          <p:cNvSpPr>
            <a:spLocks noGrp="1"/>
          </p:cNvSpPr>
          <p:nvPr>
            <p:ph type="title"/>
          </p:nvPr>
        </p:nvSpPr>
        <p:spPr/>
        <p:txBody>
          <a:bodyPr/>
          <a:lstStyle/>
          <a:p>
            <a:r>
              <a:rPr lang="en-US" dirty="0"/>
              <a:t>DATA UNDERSTANDING</a:t>
            </a:r>
            <a:endParaRPr lang="en-KE" dirty="0"/>
          </a:p>
        </p:txBody>
      </p:sp>
      <p:sp>
        <p:nvSpPr>
          <p:cNvPr id="3" name="Content Placeholder 2">
            <a:extLst>
              <a:ext uri="{FF2B5EF4-FFF2-40B4-BE49-F238E27FC236}">
                <a16:creationId xmlns:a16="http://schemas.microsoft.com/office/drawing/2014/main" id="{571B18F2-4A53-2270-14A6-9F7EB7723EB6}"/>
              </a:ext>
            </a:extLst>
          </p:cNvPr>
          <p:cNvSpPr>
            <a:spLocks noGrp="1"/>
          </p:cNvSpPr>
          <p:nvPr>
            <p:ph idx="1"/>
          </p:nvPr>
        </p:nvSpPr>
        <p:spPr/>
        <p:txBody>
          <a:bodyPr/>
          <a:lstStyle/>
          <a:p>
            <a:pPr marL="0" indent="0">
              <a:buNone/>
            </a:pPr>
            <a:r>
              <a:rPr lang="en-US" dirty="0"/>
              <a:t>The dataset we are using is from the National Transportation Safety Board (NTSB) and contains records of civil aviation accidents and selected incidents from 1948 to 2023. Each record provides details such as the date of the event, aircraft information, operator, location, injury severity, and probable cause.</a:t>
            </a:r>
          </a:p>
          <a:p>
            <a:pPr marL="0" indent="0">
              <a:buNone/>
            </a:pPr>
            <a:r>
              <a:rPr lang="en-US" dirty="0"/>
              <a:t>The dataset is valuable because it allows us to analyze historical aviation accidents, identify trends, and assess risk factors across different types of aircraft. However, it also contains missing values and inconsistencies that must be handled during data cleaning before meaningful insights can be drawn.</a:t>
            </a:r>
          </a:p>
          <a:p>
            <a:pPr marL="0" indent="0">
              <a:buNone/>
            </a:pPr>
            <a:endParaRPr lang="en-KE" dirty="0"/>
          </a:p>
        </p:txBody>
      </p:sp>
    </p:spTree>
    <p:extLst>
      <p:ext uri="{BB962C8B-B14F-4D97-AF65-F5344CB8AC3E}">
        <p14:creationId xmlns:p14="http://schemas.microsoft.com/office/powerpoint/2010/main" val="271188436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509474-3877-26AD-DF17-364FC021FED8}"/>
              </a:ext>
            </a:extLst>
          </p:cNvPr>
          <p:cNvSpPr>
            <a:spLocks noGrp="1"/>
          </p:cNvSpPr>
          <p:nvPr>
            <p:ph type="title"/>
          </p:nvPr>
        </p:nvSpPr>
        <p:spPr/>
        <p:txBody>
          <a:bodyPr/>
          <a:lstStyle/>
          <a:p>
            <a:r>
              <a:rPr lang="en-US" dirty="0"/>
              <a:t>DATA ANALYSIS</a:t>
            </a:r>
            <a:endParaRPr lang="en-KE" dirty="0"/>
          </a:p>
        </p:txBody>
      </p:sp>
      <p:sp>
        <p:nvSpPr>
          <p:cNvPr id="3" name="Content Placeholder 2">
            <a:extLst>
              <a:ext uri="{FF2B5EF4-FFF2-40B4-BE49-F238E27FC236}">
                <a16:creationId xmlns:a16="http://schemas.microsoft.com/office/drawing/2014/main" id="{F854227C-6DBA-9214-A0A0-F107498ECCFA}"/>
              </a:ext>
            </a:extLst>
          </p:cNvPr>
          <p:cNvSpPr>
            <a:spLocks noGrp="1"/>
          </p:cNvSpPr>
          <p:nvPr>
            <p:ph idx="1"/>
          </p:nvPr>
        </p:nvSpPr>
        <p:spPr/>
        <p:txBody>
          <a:bodyPr/>
          <a:lstStyle/>
          <a:p>
            <a:pPr marL="0" indent="0">
              <a:buNone/>
            </a:pPr>
            <a:r>
              <a:rPr lang="en-US" dirty="0"/>
              <a:t>The goal of this analysis is to uncover patterns of the accidents using our data, helping us to identify lower risk aircraft for investment. By examining the accidents over time, the causes, severity, we can provide a recommendation.</a:t>
            </a:r>
            <a:endParaRPr lang="en-KE" dirty="0"/>
          </a:p>
        </p:txBody>
      </p:sp>
    </p:spTree>
    <p:extLst>
      <p:ext uri="{BB962C8B-B14F-4D97-AF65-F5344CB8AC3E}">
        <p14:creationId xmlns:p14="http://schemas.microsoft.com/office/powerpoint/2010/main" val="134295152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41E8D6-BCE1-8659-0493-C687CD114434}"/>
              </a:ext>
            </a:extLst>
          </p:cNvPr>
          <p:cNvSpPr>
            <a:spLocks noGrp="1"/>
          </p:cNvSpPr>
          <p:nvPr>
            <p:ph type="title"/>
          </p:nvPr>
        </p:nvSpPr>
        <p:spPr/>
        <p:txBody>
          <a:bodyPr/>
          <a:lstStyle/>
          <a:p>
            <a:r>
              <a:rPr lang="en-US" dirty="0"/>
              <a:t>ACCIDENTS PER YEAR</a:t>
            </a:r>
            <a:endParaRPr lang="en-KE" dirty="0"/>
          </a:p>
        </p:txBody>
      </p:sp>
      <p:pic>
        <p:nvPicPr>
          <p:cNvPr id="5" name="Content Placeholder 4">
            <a:extLst>
              <a:ext uri="{FF2B5EF4-FFF2-40B4-BE49-F238E27FC236}">
                <a16:creationId xmlns:a16="http://schemas.microsoft.com/office/drawing/2014/main" id="{AEF73C98-B15E-930B-372A-F83435187DB3}"/>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384982" y="2160588"/>
            <a:ext cx="7182074" cy="3881437"/>
          </a:xfrm>
        </p:spPr>
      </p:pic>
    </p:spTree>
    <p:extLst>
      <p:ext uri="{BB962C8B-B14F-4D97-AF65-F5344CB8AC3E}">
        <p14:creationId xmlns:p14="http://schemas.microsoft.com/office/powerpoint/2010/main" val="315377921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5BCA93-3BE3-4103-643F-D5C7D6B32965}"/>
              </a:ext>
            </a:extLst>
          </p:cNvPr>
          <p:cNvSpPr>
            <a:spLocks noGrp="1"/>
          </p:cNvSpPr>
          <p:nvPr>
            <p:ph type="title"/>
          </p:nvPr>
        </p:nvSpPr>
        <p:spPr/>
        <p:txBody>
          <a:bodyPr/>
          <a:lstStyle/>
          <a:p>
            <a:r>
              <a:rPr lang="en-US" dirty="0"/>
              <a:t>Accidents per </a:t>
            </a:r>
            <a:endParaRPr lang="en-KE" dirty="0"/>
          </a:p>
        </p:txBody>
      </p:sp>
      <p:sp>
        <p:nvSpPr>
          <p:cNvPr id="3" name="Content Placeholder 2">
            <a:extLst>
              <a:ext uri="{FF2B5EF4-FFF2-40B4-BE49-F238E27FC236}">
                <a16:creationId xmlns:a16="http://schemas.microsoft.com/office/drawing/2014/main" id="{09DF5230-BE99-EF57-15C3-F8ACEA8E51F5}"/>
              </a:ext>
            </a:extLst>
          </p:cNvPr>
          <p:cNvSpPr>
            <a:spLocks noGrp="1"/>
          </p:cNvSpPr>
          <p:nvPr>
            <p:ph idx="1"/>
          </p:nvPr>
        </p:nvSpPr>
        <p:spPr/>
        <p:txBody>
          <a:bodyPr/>
          <a:lstStyle/>
          <a:p>
            <a:pPr marL="0" indent="0">
              <a:buNone/>
            </a:pPr>
            <a:r>
              <a:rPr lang="en-US" dirty="0"/>
              <a:t>The sharp spike seen around 1982 does not represent an actual surge in accidents but is likely due to a change in reporting or data collection methods. What is more important is the clear downward trend from the mid-1980s to the present, showing continuous improvements in aviation safety. Advances in aircraft technology, stricter regulations, and better training have all contributed to reducing accidents, even as air traffic has increased. Overall, the long-term trend demonstrates that aviation is becoming progressively safer.</a:t>
            </a:r>
            <a:endParaRPr lang="en-KE" dirty="0"/>
          </a:p>
        </p:txBody>
      </p:sp>
    </p:spTree>
    <p:extLst>
      <p:ext uri="{BB962C8B-B14F-4D97-AF65-F5344CB8AC3E}">
        <p14:creationId xmlns:p14="http://schemas.microsoft.com/office/powerpoint/2010/main" val="81280835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322816-F01D-1CBA-3ADB-93EEB258AE2A}"/>
              </a:ext>
            </a:extLst>
          </p:cNvPr>
          <p:cNvSpPr>
            <a:spLocks noGrp="1"/>
          </p:cNvSpPr>
          <p:nvPr>
            <p:ph type="title"/>
          </p:nvPr>
        </p:nvSpPr>
        <p:spPr/>
        <p:txBody>
          <a:bodyPr/>
          <a:lstStyle/>
          <a:p>
            <a:r>
              <a:rPr lang="en-US" dirty="0"/>
              <a:t>Top 10 Aircraft makes in accidents</a:t>
            </a:r>
            <a:endParaRPr lang="en-KE" dirty="0"/>
          </a:p>
        </p:txBody>
      </p:sp>
      <p:pic>
        <p:nvPicPr>
          <p:cNvPr id="5" name="Content Placeholder 4">
            <a:extLst>
              <a:ext uri="{FF2B5EF4-FFF2-40B4-BE49-F238E27FC236}">
                <a16:creationId xmlns:a16="http://schemas.microsoft.com/office/drawing/2014/main" id="{3DE8D1F3-D7EF-E351-A5C7-55527CD7A73E}"/>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934110" y="2160588"/>
            <a:ext cx="8083818" cy="3881437"/>
          </a:xfrm>
        </p:spPr>
      </p:pic>
    </p:spTree>
    <p:extLst>
      <p:ext uri="{BB962C8B-B14F-4D97-AF65-F5344CB8AC3E}">
        <p14:creationId xmlns:p14="http://schemas.microsoft.com/office/powerpoint/2010/main" val="179274623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30FD07-6990-25B5-87CC-C78944F0576E}"/>
              </a:ext>
            </a:extLst>
          </p:cNvPr>
          <p:cNvSpPr>
            <a:spLocks noGrp="1"/>
          </p:cNvSpPr>
          <p:nvPr>
            <p:ph type="title"/>
          </p:nvPr>
        </p:nvSpPr>
        <p:spPr/>
        <p:txBody>
          <a:bodyPr/>
          <a:lstStyle/>
          <a:p>
            <a:r>
              <a:rPr lang="en-US" dirty="0"/>
              <a:t>Top 10 aircraft make in accidents</a:t>
            </a:r>
            <a:endParaRPr lang="en-KE" dirty="0"/>
          </a:p>
        </p:txBody>
      </p:sp>
      <p:sp>
        <p:nvSpPr>
          <p:cNvPr id="3" name="Content Placeholder 2">
            <a:extLst>
              <a:ext uri="{FF2B5EF4-FFF2-40B4-BE49-F238E27FC236}">
                <a16:creationId xmlns:a16="http://schemas.microsoft.com/office/drawing/2014/main" id="{37846B19-1584-0E5C-F774-208B88C1411A}"/>
              </a:ext>
            </a:extLst>
          </p:cNvPr>
          <p:cNvSpPr>
            <a:spLocks noGrp="1"/>
          </p:cNvSpPr>
          <p:nvPr>
            <p:ph idx="1"/>
          </p:nvPr>
        </p:nvSpPr>
        <p:spPr/>
        <p:txBody>
          <a:bodyPr/>
          <a:lstStyle/>
          <a:p>
            <a:pPr marL="0" indent="0">
              <a:buNone/>
            </a:pPr>
            <a:r>
              <a:rPr lang="en-US" dirty="0"/>
              <a:t>The graph shows the top 10 aircrafts make with fata accidents. Notably Cessna, Boeing and piper appear more frequently over the years.</a:t>
            </a:r>
          </a:p>
          <a:p>
            <a:pPr marL="0" indent="0">
              <a:buNone/>
            </a:pPr>
            <a:r>
              <a:rPr lang="en-US" dirty="0"/>
              <a:t>I would recommend a careful consideration before selecting these makes as they may carry a higher level of risk.</a:t>
            </a:r>
            <a:endParaRPr lang="en-KE" dirty="0"/>
          </a:p>
        </p:txBody>
      </p:sp>
    </p:spTree>
    <p:extLst>
      <p:ext uri="{BB962C8B-B14F-4D97-AF65-F5344CB8AC3E}">
        <p14:creationId xmlns:p14="http://schemas.microsoft.com/office/powerpoint/2010/main" val="133694477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FCA2B2-876D-B926-E8C4-AFC4610688B9}"/>
              </a:ext>
            </a:extLst>
          </p:cNvPr>
          <p:cNvSpPr>
            <a:spLocks noGrp="1"/>
          </p:cNvSpPr>
          <p:nvPr>
            <p:ph type="title"/>
          </p:nvPr>
        </p:nvSpPr>
        <p:spPr/>
        <p:txBody>
          <a:bodyPr/>
          <a:lstStyle/>
          <a:p>
            <a:r>
              <a:rPr lang="en-US" dirty="0"/>
              <a:t>Accident by phase of flight</a:t>
            </a:r>
            <a:endParaRPr lang="en-KE" dirty="0"/>
          </a:p>
        </p:txBody>
      </p:sp>
      <p:pic>
        <p:nvPicPr>
          <p:cNvPr id="5" name="Content Placeholder 4">
            <a:extLst>
              <a:ext uri="{FF2B5EF4-FFF2-40B4-BE49-F238E27FC236}">
                <a16:creationId xmlns:a16="http://schemas.microsoft.com/office/drawing/2014/main" id="{69115ED8-63C7-9F96-71F6-99F08B912C8E}"/>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444336" y="2090666"/>
            <a:ext cx="8073737" cy="4663425"/>
          </a:xfrm>
        </p:spPr>
      </p:pic>
    </p:spTree>
    <p:extLst>
      <p:ext uri="{BB962C8B-B14F-4D97-AF65-F5344CB8AC3E}">
        <p14:creationId xmlns:p14="http://schemas.microsoft.com/office/powerpoint/2010/main" val="294733822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2CA14B-998B-D63C-799C-C01ECFA888DA}"/>
              </a:ext>
            </a:extLst>
          </p:cNvPr>
          <p:cNvSpPr>
            <a:spLocks noGrp="1"/>
          </p:cNvSpPr>
          <p:nvPr>
            <p:ph type="title"/>
          </p:nvPr>
        </p:nvSpPr>
        <p:spPr/>
        <p:txBody>
          <a:bodyPr/>
          <a:lstStyle/>
          <a:p>
            <a:r>
              <a:rPr lang="en-US" dirty="0"/>
              <a:t>Accidents by phase of flight</a:t>
            </a:r>
            <a:endParaRPr lang="en-KE" dirty="0"/>
          </a:p>
        </p:txBody>
      </p:sp>
      <p:sp>
        <p:nvSpPr>
          <p:cNvPr id="3" name="Content Placeholder 2">
            <a:extLst>
              <a:ext uri="{FF2B5EF4-FFF2-40B4-BE49-F238E27FC236}">
                <a16:creationId xmlns:a16="http://schemas.microsoft.com/office/drawing/2014/main" id="{3EE89CBE-15C7-3F16-AA12-1A487CFDC439}"/>
              </a:ext>
            </a:extLst>
          </p:cNvPr>
          <p:cNvSpPr>
            <a:spLocks noGrp="1"/>
          </p:cNvSpPr>
          <p:nvPr>
            <p:ph idx="1"/>
          </p:nvPr>
        </p:nvSpPr>
        <p:spPr/>
        <p:txBody>
          <a:bodyPr/>
          <a:lstStyle/>
          <a:p>
            <a:pPr marL="0" indent="0">
              <a:buNone/>
            </a:pPr>
            <a:r>
              <a:rPr lang="en-US" dirty="0"/>
              <a:t>Landing is a critical phase of flight, and pilots must exercise extra care. The graph shows that many accidents over the years have occurred due to incorrect or unsafe landings, highlighting the importance of proper technique and attention during this phase.</a:t>
            </a:r>
            <a:endParaRPr lang="en-KE" dirty="0"/>
          </a:p>
        </p:txBody>
      </p:sp>
    </p:spTree>
    <p:extLst>
      <p:ext uri="{BB962C8B-B14F-4D97-AF65-F5344CB8AC3E}">
        <p14:creationId xmlns:p14="http://schemas.microsoft.com/office/powerpoint/2010/main" val="218086231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83153C-1E0C-71C7-42CC-C29474F0195A}"/>
              </a:ext>
            </a:extLst>
          </p:cNvPr>
          <p:cNvSpPr>
            <a:spLocks noGrp="1"/>
          </p:cNvSpPr>
          <p:nvPr>
            <p:ph type="title"/>
          </p:nvPr>
        </p:nvSpPr>
        <p:spPr/>
        <p:txBody>
          <a:bodyPr/>
          <a:lstStyle/>
          <a:p>
            <a:r>
              <a:rPr lang="en-US" dirty="0"/>
              <a:t>RECCOMENDATIONS</a:t>
            </a:r>
            <a:endParaRPr lang="en-KE" dirty="0"/>
          </a:p>
        </p:txBody>
      </p:sp>
      <p:sp>
        <p:nvSpPr>
          <p:cNvPr id="3" name="Content Placeholder 2">
            <a:extLst>
              <a:ext uri="{FF2B5EF4-FFF2-40B4-BE49-F238E27FC236}">
                <a16:creationId xmlns:a16="http://schemas.microsoft.com/office/drawing/2014/main" id="{9303BD9D-8DEA-104B-5F55-6ABDD82429EE}"/>
              </a:ext>
            </a:extLst>
          </p:cNvPr>
          <p:cNvSpPr>
            <a:spLocks noGrp="1"/>
          </p:cNvSpPr>
          <p:nvPr>
            <p:ph idx="1"/>
          </p:nvPr>
        </p:nvSpPr>
        <p:spPr/>
        <p:txBody>
          <a:bodyPr/>
          <a:lstStyle/>
          <a:p>
            <a:pPr>
              <a:buAutoNum type="arabicPeriod"/>
            </a:pPr>
            <a:r>
              <a:rPr lang="en-US" dirty="0"/>
              <a:t>Prioritize safer aircraft makes</a:t>
            </a:r>
          </a:p>
          <a:p>
            <a:pPr>
              <a:buAutoNum type="arabicPeriod"/>
            </a:pPr>
            <a:r>
              <a:rPr lang="en-US" dirty="0"/>
              <a:t>Exercise caution with high risk makes like Cessna, Boeing and Piper before use.</a:t>
            </a:r>
          </a:p>
          <a:p>
            <a:pPr>
              <a:buAutoNum type="arabicPeriod"/>
            </a:pPr>
            <a:r>
              <a:rPr lang="en-US" dirty="0"/>
              <a:t>Emphasize pilot training majorly on landing as it is a critical phase.</a:t>
            </a:r>
          </a:p>
          <a:p>
            <a:pPr>
              <a:buAutoNum type="arabicPeriod"/>
            </a:pPr>
            <a:r>
              <a:rPr lang="en-US" dirty="0"/>
              <a:t>Emphasize of safety procedures </a:t>
            </a:r>
            <a:r>
              <a:rPr lang="en-US"/>
              <a:t>regulary</a:t>
            </a:r>
            <a:endParaRPr lang="en-US" dirty="0"/>
          </a:p>
        </p:txBody>
      </p:sp>
    </p:spTree>
    <p:extLst>
      <p:ext uri="{BB962C8B-B14F-4D97-AF65-F5344CB8AC3E}">
        <p14:creationId xmlns:p14="http://schemas.microsoft.com/office/powerpoint/2010/main" val="388564406"/>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TM02900688[[fn=Facet]]</Template>
  <TotalTime>2856</TotalTime>
  <Words>598</Words>
  <Application>Microsoft Office PowerPoint</Application>
  <PresentationFormat>Widescreen</PresentationFormat>
  <Paragraphs>38</Paragraphs>
  <Slides>14</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Arial</vt:lpstr>
      <vt:lpstr>Trebuchet MS</vt:lpstr>
      <vt:lpstr>Wingdings</vt:lpstr>
      <vt:lpstr>Wingdings 3</vt:lpstr>
      <vt:lpstr>Facet</vt:lpstr>
      <vt:lpstr>AVIATION RISK ANALYSIS</vt:lpstr>
      <vt:lpstr>OVERVIEW</vt:lpstr>
      <vt:lpstr>OUTLINE</vt:lpstr>
      <vt:lpstr>BUSINESS UNDERSTANDING</vt:lpstr>
      <vt:lpstr>Objectives</vt:lpstr>
      <vt:lpstr>DATA UNDERSTANDING</vt:lpstr>
      <vt:lpstr>DATA ANALYSIS</vt:lpstr>
      <vt:lpstr>ACCIDENTS PER YEAR</vt:lpstr>
      <vt:lpstr>Accidents per </vt:lpstr>
      <vt:lpstr>Top 10 Aircraft makes in accidents</vt:lpstr>
      <vt:lpstr>Top 10 aircraft make in accidents</vt:lpstr>
      <vt:lpstr>Accident by phase of flight</vt:lpstr>
      <vt:lpstr>Accidents by phase of flight</vt:lpstr>
      <vt:lpstr>RECCOMENDATIONS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Dell</dc:creator>
  <cp:lastModifiedBy>Dell</cp:lastModifiedBy>
  <cp:revision>3</cp:revision>
  <dcterms:created xsi:type="dcterms:W3CDTF">2025-12-16T07:03:32Z</dcterms:created>
  <dcterms:modified xsi:type="dcterms:W3CDTF">2025-12-18T06:40:20Z</dcterms:modified>
</cp:coreProperties>
</file>